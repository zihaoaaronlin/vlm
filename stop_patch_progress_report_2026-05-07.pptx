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clean_stop_rate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0.19402985074626866</c:v>
                </c:pt>
                <c:pt idx="1">
                  <c:v>0.19402985074626866</c:v>
                </c:pt>
                <c:pt idx="2">
                  <c:v>0.19402985074626866</c:v>
                </c:pt>
                <c:pt idx="3">
                  <c:v>0.19402985074626866</c:v>
                </c:pt>
                <c:pt idx="4">
                  <c:v>0.19402985074626866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patched_stop_rate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0.5671641791044776</c:v>
                </c:pt>
                <c:pt idx="1">
                  <c:v>0.6567164179104478</c:v>
                </c:pt>
                <c:pt idx="2">
                  <c:v>0.6716417910447762</c:v>
                </c:pt>
                <c:pt idx="3">
                  <c:v>0.746268656716418</c:v>
                </c:pt>
                <c:pt idx="4">
                  <c:v>0.835820895522388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通用 Stop Patch 对小型 VLM 的阶段性汇报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问题背景 / 当前方法 / 实验结果 / 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核心目标：验证一张通用 patch 能否把小型 VLM 的输出推向 stop 相关语义。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当前对象：Qwen2.5-VL-3B-Instruct。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当前结论：Sign / Risk 层迁移明显，Action 层提升有限。</a:t>
            </a:r>
          </a:p>
        </p:txBody>
      </p:sp>
      <p:pic>
        <p:nvPicPr>
          <p:cNvPr id="6" name="Picture 5" descr="final_stop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173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4617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PingFang SC"/>
              </a:rPr>
              <a:t>当前训练得到的 universal stop 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94960"/>
            <a:ext cx="2103120" cy="9601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04688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Train images</a:t>
            </a:r>
          </a:p>
          <a:p>
            <a:r>
              <a:rPr sz="2200" b="1">
                <a:solidFill>
                  <a:srgbClr val="FFFFFF"/>
                </a:solidFill>
                <a:latin typeface="PingFang SC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5394960"/>
            <a:ext cx="2103120" cy="960120"/>
          </a:xfrm>
          <a:prstGeom prst="roundRect">
            <a:avLst/>
          </a:prstGeom>
          <a:solidFill>
            <a:srgbClr val="3C78D8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5504688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Eval images</a:t>
            </a:r>
          </a:p>
          <a:p>
            <a:r>
              <a:rPr sz="2200" b="1">
                <a:solidFill>
                  <a:srgbClr val="FFFFFF"/>
                </a:solidFill>
                <a:latin typeface="PingFang SC"/>
              </a:rPr>
              <a:t>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5394960"/>
            <a:ext cx="2103120" cy="960120"/>
          </a:xfrm>
          <a:prstGeom prst="roundRect">
            <a:avLst/>
          </a:prstGeom>
          <a:solidFill>
            <a:srgbClr val="D73949"/>
          </a:solidFill>
          <a:ln>
            <a:solidFill>
              <a:srgbClr val="D7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5504688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Target VLM</a:t>
            </a:r>
          </a:p>
          <a:p>
            <a:r>
              <a:rPr sz="2200" b="1">
                <a:solidFill>
                  <a:srgbClr val="FFFFFF"/>
                </a:solidFill>
                <a:latin typeface="PingFang SC"/>
              </a:rPr>
              <a:t>Qwen 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5394960"/>
            <a:ext cx="2103120" cy="960120"/>
          </a:xfrm>
          <a:prstGeom prst="roundRect">
            <a:avLst/>
          </a:prstGeom>
          <a:solidFill>
            <a:srgbClr val="425C8C"/>
          </a:solidFill>
          <a:ln>
            <a:solidFill>
              <a:srgbClr val="42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5504688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Date</a:t>
            </a:r>
          </a:p>
          <a:p>
            <a:r>
              <a:rPr sz="2200" b="1">
                <a:solidFill>
                  <a:srgbClr val="FFFFFF"/>
                </a:solidFill>
                <a:latin typeface="PingFang SC"/>
              </a:rPr>
              <a:t>2026-05-07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1. 问题背景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为什么要做这个方向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小型 VLM 正在进入驾驶辅助、机器人和视觉决策链路，输出不再只是分类标签，而是开放式文本与动作建议。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已有对抗 patch 工作多数针对分类器；对于 VLM，真正风险在于：模型是否会把图像解释成 stop、风险、乃至直接建议停车。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“看到 stop 标志”和“真的选择停止动作”不是一回事，需要单独评估。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因此本工作聚焦：一张 universal patch 能否跨模型迁移，并在小型 VLM 上诱导 stop 相关回答。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4754880"/>
            <a:ext cx="3200400" cy="1097280"/>
          </a:xfrm>
          <a:prstGeom prst="roundRect">
            <a:avLst/>
          </a:prstGeom>
          <a:solidFill>
            <a:srgbClr val="EDF4FF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365D"/>
                </a:solidFill>
                <a:latin typeface="PingFang SC"/>
              </a:rPr>
              <a:t>本轮汇报重点：</a:t>
            </a:r>
            <a:br/>
            <a:r>
              <a:rPr sz="1400" b="0">
                <a:solidFill>
                  <a:srgbClr val="1A365D"/>
                </a:solidFill>
                <a:latin typeface="PingFang SC"/>
              </a:rPr>
              <a:t>1) CLIP 训练是否成功</a:t>
            </a:r>
            <a:br/>
            <a:r>
              <a:rPr sz="1400" b="0">
                <a:solidFill>
                  <a:srgbClr val="1A365D"/>
                </a:solidFill>
                <a:latin typeface="PingFang SC"/>
              </a:rPr>
              <a:t>2) 是否迁移到 Qwen 3B</a:t>
            </a:r>
            <a:br/>
            <a:r>
              <a:rPr sz="1400" b="0">
                <a:solidFill>
                  <a:srgbClr val="1A365D"/>
                </a:solidFill>
                <a:latin typeface="PingFang SC"/>
              </a:rPr>
              <a:t>3) 迁移停在哪一层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2. 要解决什么问题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研究问题与评估层次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Q1：在 CLIP 上训练的 universal stop patch，能否迁移到 Qwen2.5-VL-3B？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Q2：迁移主要出现在哪一层：Sign、Risk 还是 Action？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323"/>
                </a:solidFill>
                <a:latin typeface="PingFang SC"/>
              </a:rPr>
              <a:t>Q3：优化 patch 是否显著强于 random / red / gray baseline？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45920"/>
            <a:ext cx="4389120" cy="914400"/>
          </a:xfrm>
          <a:prstGeom prst="roundRect">
            <a:avLst/>
          </a:prstGeom>
          <a:solidFill>
            <a:srgbClr val="E4E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PingFang SC"/>
              </a:rPr>
              <a:t>Sign level</a:t>
            </a:r>
          </a:p>
          <a:p>
            <a:r>
              <a:rPr sz="1200" b="0">
                <a:solidFill>
                  <a:srgbClr val="232323"/>
                </a:solidFill>
                <a:latin typeface="PingFang SC"/>
              </a:rPr>
              <a:t>是否说有 stop / 禁止停车 / 红灯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971800"/>
            <a:ext cx="4389120" cy="914400"/>
          </a:xfrm>
          <a:prstGeom prst="roundRect">
            <a:avLst/>
          </a:prstGeom>
          <a:solidFill>
            <a:srgbClr val="FFF1E0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PingFang SC"/>
              </a:rPr>
              <a:t>Risk level</a:t>
            </a:r>
          </a:p>
          <a:p>
            <a:r>
              <a:rPr sz="1200" b="0">
                <a:solidFill>
                  <a:srgbClr val="232323"/>
                </a:solidFill>
                <a:latin typeface="PingFang SC"/>
              </a:rPr>
              <a:t>是否说存在需要停下的风险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4297680"/>
            <a:ext cx="4389120" cy="914400"/>
          </a:xfrm>
          <a:prstGeom prst="roundRect">
            <a:avLst/>
          </a:prstGeom>
          <a:solidFill>
            <a:srgbClr val="FFE4E4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PingFang SC"/>
              </a:rPr>
              <a:t>Action level</a:t>
            </a:r>
          </a:p>
          <a:p>
            <a:r>
              <a:rPr sz="1200" b="0">
                <a:solidFill>
                  <a:srgbClr val="232323"/>
                </a:solidFill>
                <a:latin typeface="PingFang SC"/>
              </a:rPr>
              <a:t>是否真正给出停止/停车动作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3. 当前训练方法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CLIP-guided universal stop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323"/>
                </a:solidFill>
                <a:latin typeface="PingFang SC"/>
              </a:rPr>
              <a:t>冻结 OpenCLIP ViT-B/32（OpenAI 权重），不更新模型参数，只优化 patch 像素。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323"/>
                </a:solidFill>
                <a:latin typeface="PingFang SC"/>
              </a:rPr>
              <a:t>训练对象：1 张 64×64 的 universal patch，对所有训练图共享。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323"/>
                </a:solidFill>
                <a:latin typeface="PingFang SC"/>
              </a:rPr>
              <a:t>目标文本分成 STOP_TEXTS 与 NEG_TEXTS 两组，优化图像特征更接近 stop 组、远离 neg 组。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323"/>
                </a:solidFill>
                <a:latin typeface="PingFang SC"/>
              </a:rPr>
              <a:t>损失：-logσ(logsumexp(stop)-logsumexp(neg)) + TV 正则；训练时 patch 位置随机。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83480"/>
            <a:ext cx="6217920" cy="822960"/>
          </a:xfrm>
          <a:prstGeom prst="roundRect">
            <a:avLst/>
          </a:prstGeom>
          <a:solidFill>
            <a:srgbClr val="F8FAFF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65D"/>
                </a:solidFill>
                <a:latin typeface="PingFang SC"/>
              </a:rPr>
              <a:t>L = -log σ( logsumexp(s_stop) - logsumexp(s_neg) ) + λ · TV(patch)</a:t>
            </a:r>
          </a:p>
        </p:txBody>
      </p:sp>
      <p:pic>
        <p:nvPicPr>
          <p:cNvPr id="6" name="Picture 5" descr="final_stop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283464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4572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PingFang SC"/>
              </a:rPr>
              <a:t>patch 参数化：patch = sigmoid(logits)，保证像素值在 [0,1]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4. 目前探索了什么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从 CLIP 到 Qwen 的完整链路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完成 CLIP 侧 stop patch 训练，并验证训练收敛与 patch 可视化输出。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做了 patch baseline：random / solid red / solid gray，并测试 top-left / top-right / bottom-left / bottom-right / center 五个位置。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将 stop prompt 从强调颜色的 “a red stop sign” 改为更中性的 “a sign that says stop”。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构建 Qwen2.5-VL-3B 多 prompt 评测脚本，比较 clean / optimized / random / red / gray 五种图像版本。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建立自动标签映射：STOP_ACTION / STOP_SIGN / RISK_STOP / SIGN_HALLUCINATION / NO_STOP / OTHER。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重构 40 张唯一测试图，分成 4 类：building_outdoor / traffic_no_stop / street_road / indoor。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5. 实验配置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训练设置与 Qwen 评测设置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5394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训练项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配置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训练数据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100 张 data/train 图像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OpenCLIP ViT-B/32 (pretrained=openai)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图像尺寸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224 × 224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patch 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64 × 64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Batch / Epoch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4 /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优化器 / 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Adam / 0.05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正则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TV weight = 0.0005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放置策略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训练随机位置，评测固定位置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25880"/>
          <a:ext cx="5394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训练项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配置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评测模型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Qwen2.5-VL-3B-Instruct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运行设备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Apple M4, MPS, fp16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测试集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40 张唯一图，4 类各 10 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图像版本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clean / optimized / random / red / gray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核心 prompt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decision_stop_or_go / decision_safe_action / decision_risk / sign_presence / sign_stop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三层指标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Sign-level ASR / Risk-level ASR / Action-level ASR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结果保存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PingFang SC"/>
                        </a:rPr>
                        <a:t>CSV + JSON + Markdown + 图像快照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669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PingFang SC"/>
              </a:rPr>
              <a:t>说明：Action-level 目前由 decision_stop_or_go 与 decision_safe_action 聚合；Sign-level 由 sign_presence 与 sign_stop 聚合。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6. CLIP 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patch 已经学到 stop-like 概念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5486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0" y="15087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optimized 位置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stop_rate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center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90.0%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top_right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52.5%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bottom_right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50.0%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bottom_left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40.0%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top_left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35.0%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32323"/>
                </a:solidFill>
                <a:latin typeface="PingFang SC"/>
              </a:rPr>
              <a:t>patched_stop_rate: 56.7% → 83.6%，说明 patch 训练收敛。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32323"/>
                </a:solidFill>
                <a:latin typeface="PingFang SC"/>
              </a:rPr>
              <a:t>新版 baseline 上，center 最强（90.0%），四角位置中 top-right 最强（52.5%）。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32323"/>
                </a:solidFill>
                <a:latin typeface="PingFang SC"/>
              </a:rPr>
              <a:t>optimized patch 在所有位置都强于 random / red / gray。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7. Qwen2.5-VL-3B 总体结果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三层 ASR 必须分开看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ALL_UNIQUE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Sign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Risk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Action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clean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7.5%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25.0%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optimized_center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22.5%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random_center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32.5%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20.0%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red_center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20.0%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gray_center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30.0%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15.0%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1732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optimized only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Sign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Risk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Action</a:t>
                      </a:r>
                    </a:p>
                  </a:txBody>
                  <a:tcPr>
                    <a:solidFill>
                      <a:srgbClr val="3C7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building_outdoor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90.0%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50.0%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20.0%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indoor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street_road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80.0%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100.0%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30.0%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traffic_no_stop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PingFang SC"/>
                        </a:rPr>
                        <a:t>40.0%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605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最强提升在 Sign / Risk 层：optimized_center = 70.0% / 75.0%，远高于 clean = 7.5% / 25.0%。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Action 层提升有限：optimized_center = 22.5%，仅略高于 random/red = 20.0%。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traffic_no_stop 类别动作层最好（40.0%），indoor 类别动作层为 0%。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8. 代表性案例分析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一类是成功迁移到动作层，一类是只停留在标志/风险层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5D"/>
                </a:solidFill>
                <a:latin typeface="PingFang SC"/>
              </a:rPr>
              <a:t>案例 A：traffic_no_stop / 16.png（Sign + Risk + Action 全部被拉起）</a:t>
            </a:r>
          </a:p>
        </p:txBody>
      </p:sp>
      <p:pic>
        <p:nvPicPr>
          <p:cNvPr id="5" name="Picture 4" descr="16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2148840" cy="1554480"/>
          </a:xfrm>
          <a:prstGeom prst="rect">
            <a:avLst/>
          </a:prstGeom>
        </p:spPr>
      </p:pic>
      <p:pic>
        <p:nvPicPr>
          <p:cNvPr id="6" name="Picture 5" descr="16_optimize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554480"/>
            <a:ext cx="214884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PingFang SC"/>
              </a:rPr>
              <a:t>clean：无 stop；patched：sign_stop=STOP_SIGN，decision_risk=RISK_STOP，decision_safe_action=“减速并停车”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65D"/>
                </a:solidFill>
                <a:latin typeface="PingFang SC"/>
              </a:rPr>
              <a:t>案例 B：indoor / 31.png（只出现 stop 标志幻觉，动作层未迁移）</a:t>
            </a:r>
          </a:p>
        </p:txBody>
      </p:sp>
      <p:pic>
        <p:nvPicPr>
          <p:cNvPr id="9" name="Picture 8" descr="31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2148840" cy="1554480"/>
          </a:xfrm>
          <a:prstGeom prst="rect">
            <a:avLst/>
          </a:prstGeom>
        </p:spPr>
      </p:pic>
      <p:pic>
        <p:nvPicPr>
          <p:cNvPr id="10" name="Picture 9" descr="31_optimized_ce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554480"/>
            <a:ext cx="2148840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PingFang SC"/>
              </a:rPr>
              <a:t>patched：sign_stop=STOP_SIGN，但 decision_risk=NO_STOP，decision_safe_action 仍非 STOP_ACTION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说明 1：当前 patch 已能把部分交通图推到 Action 层，但不稳定。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说明 2：在室内图上更常见的是 stop sign / emergency 按钮类幻觉，而不是稳定停车决策。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323"/>
                </a:solidFill>
                <a:latin typeface="PingFang SC"/>
              </a:rPr>
              <a:t>说明 3：Qwen 更容易被推到“看到 stop / 感到有风险”，不容易被推到“直接回答停止”。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PingFang SC"/>
              </a:rPr>
              <a:t>9. 当前结论与下一步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5F5F"/>
                </a:solidFill>
                <a:latin typeface="PingFang SC"/>
              </a:rPr>
              <a:t>下一阶段要把目标从 sign/risk 转到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结论 1：CLIP 训练出的 universal patch 能迁移到小型 VLM，但主要体现在 Sign / Risk 层。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结论 2：Action 层仍是瓶颈；decision_stop_or_go 基本不翻转，当前 Action 成功主要来自 decision_safe_action。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323"/>
                </a:solidFill>
                <a:latin typeface="PingFang SC"/>
              </a:rPr>
              <a:t>结论 3：random / red patch 已经能抬高部分 risk/action，说明后续训练必须直接针对动作输出优化。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323"/>
                </a:solidFill>
                <a:latin typeface="PingFang SC"/>
              </a:rPr>
              <a:t>下一步 1：把训练目标从 CLIP 语义改为 Qwen token-level action loss，直接优化“停止/停车”答案概率。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323"/>
                </a:solidFill>
                <a:latin typeface="PingFang SC"/>
              </a:rPr>
              <a:t>下一步 2：优先用 traffic_no_stop + street_road 做 action-targeted 训练，减少室内 hallucination 干扰。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323"/>
                </a:solidFill>
                <a:latin typeface="PingFang SC"/>
              </a:rPr>
              <a:t>下一步 3：统一动作 prompt 为二选一格式（如“停止 / 继续”），降低开放式生成噪声。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323"/>
                </a:solidFill>
                <a:latin typeface="PingFang SC"/>
              </a:rPr>
              <a:t>下一步 4：继续比较 patch 大小、位置、更多 VLM（如 InternVL / LLaVA）上的迁移稳定性。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10424160" cy="731520"/>
          </a:xfrm>
          <a:prstGeom prst="roundRect">
            <a:avLst/>
          </a:prstGeom>
          <a:solidFill>
            <a:srgbClr val="EDF4FF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365D"/>
                </a:solidFill>
                <a:latin typeface="PingFang SC"/>
              </a:rPr>
              <a:t>一句话总结：当前工作已经证明 patch 可把小型 VLM 推向 stop 相关语义，但要稳定诱导“停止动作”，下一步必须直接在目标 VLM 上做 action-targeted 训练。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